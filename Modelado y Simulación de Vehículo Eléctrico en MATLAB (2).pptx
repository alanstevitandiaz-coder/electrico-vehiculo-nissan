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2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025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58615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834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397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3776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3167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450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458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640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081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9792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9174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2196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8950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7140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D2903-0C37-4273-851C-00423AC28E10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115E9A5-A370-4544-BE7A-1938F6A099E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1422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0C4F34-8C1A-4022-91FE-4C3F92EE4E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5425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2435184-9834-4724-95C5-28609370E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352" y="625642"/>
            <a:ext cx="8524775" cy="174854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accent3">
                    <a:lumMod val="75000"/>
                  </a:schemeClr>
                </a:solidFill>
              </a:rPr>
              <a:t>Modelado y Simulación de Vehículo Eléctrico en MATLAB/</a:t>
            </a:r>
            <a:r>
              <a:rPr lang="es-MX" dirty="0" err="1">
                <a:solidFill>
                  <a:schemeClr val="accent3">
                    <a:lumMod val="75000"/>
                  </a:schemeClr>
                </a:solidFill>
              </a:rPr>
              <a:t>Simulink</a:t>
            </a:r>
            <a:endParaRPr lang="es-EC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78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4DA0-9673-4C30-AE76-4B51421D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22" y="263091"/>
            <a:ext cx="8596668" cy="1320800"/>
          </a:xfrm>
        </p:spPr>
        <p:txBody>
          <a:bodyPr/>
          <a:lstStyle/>
          <a:p>
            <a:r>
              <a:rPr lang="es-EC" dirty="0"/>
              <a:t>Vehículo de referencia: Nissan </a:t>
            </a:r>
            <a:r>
              <a:rPr lang="es-EC" dirty="0" err="1"/>
              <a:t>Leaf</a:t>
            </a:r>
            <a:r>
              <a:rPr lang="es-EC" dirty="0"/>
              <a:t> 2022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DDEB82-33A4-49C3-A7D8-F1D1690BD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37" y="1240625"/>
            <a:ext cx="5022763" cy="501502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BE2C42-FC4A-28B9-7C1E-E1060F936132}"/>
              </a:ext>
            </a:extLst>
          </p:cNvPr>
          <p:cNvSpPr txBox="1"/>
          <p:nvPr/>
        </p:nvSpPr>
        <p:spPr>
          <a:xfrm>
            <a:off x="6487390" y="1177335"/>
            <a:ext cx="343246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200000"/>
              </a:lnSpc>
              <a:buNone/>
            </a:pPr>
            <a:r>
              <a:rPr lang="es-MX" b="0" i="0" dirty="0">
                <a:effectLst/>
                <a:latin typeface="Segoe UI" panose="020B0502040204020203" pitchFamily="34" charset="0"/>
              </a:rPr>
              <a:t>Se configuró un motor síncrono de imanes permanentes (PMSM) y un modelo de batería equivalente, y se diseñó un </a:t>
            </a:r>
            <a:r>
              <a:rPr lang="es-MX" b="0" i="0" dirty="0" err="1">
                <a:effectLst/>
                <a:latin typeface="Segoe UI" panose="020B0502040204020203" pitchFamily="34" charset="0"/>
              </a:rPr>
              <a:t>dashboard</a:t>
            </a:r>
            <a:r>
              <a:rPr lang="es-MX" b="0" i="0" dirty="0">
                <a:effectLst/>
                <a:latin typeface="Segoe UI" panose="020B0502040204020203" pitchFamily="34" charset="0"/>
              </a:rPr>
              <a:t> con todas las variables importantes del sistema: velocidad, torque, potencia, temperatura, voltaje por celda, corriente.</a:t>
            </a:r>
          </a:p>
        </p:txBody>
      </p:sp>
    </p:spTree>
    <p:extLst>
      <p:ext uri="{BB962C8B-B14F-4D97-AF65-F5344CB8AC3E}">
        <p14:creationId xmlns:p14="http://schemas.microsoft.com/office/powerpoint/2010/main" val="352593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8B690-E9DE-42D1-9F95-4FCBF6F2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Pack de Batería del Nissan </a:t>
            </a:r>
            <a:r>
              <a:rPr lang="es-MX" dirty="0" err="1"/>
              <a:t>Leaf</a:t>
            </a:r>
            <a:r>
              <a:rPr lang="es-MX" dirty="0"/>
              <a:t> – Diseño en </a:t>
            </a:r>
            <a:r>
              <a:rPr lang="es-MX" dirty="0" err="1"/>
              <a:t>Simscape</a:t>
            </a:r>
            <a:r>
              <a:rPr lang="es-MX" dirty="0"/>
              <a:t> </a:t>
            </a:r>
            <a:r>
              <a:rPr lang="es-MX" dirty="0" err="1"/>
              <a:t>Battery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BC1E52-7316-4EDD-B8E4-8C2C3F39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3" y="2473959"/>
            <a:ext cx="4608383" cy="35384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24577D9-5DAD-4891-8A6F-B06D8E160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04" y="2114053"/>
            <a:ext cx="3000794" cy="425826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C39AC16-2381-9766-40F8-33306446F098}"/>
              </a:ext>
            </a:extLst>
          </p:cNvPr>
          <p:cNvSpPr txBox="1"/>
          <p:nvPr/>
        </p:nvSpPr>
        <p:spPr>
          <a:xfrm>
            <a:off x="3884928" y="2034657"/>
            <a:ext cx="31116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s-MX" sz="1600" b="0" i="0" dirty="0">
                <a:effectLst/>
                <a:latin typeface="Segoe UI" panose="020B0502040204020203" pitchFamily="34" charset="0"/>
              </a:rPr>
              <a:t>Generamos un pack con las características reales de la batería del </a:t>
            </a:r>
            <a:r>
              <a:rPr lang="es-MX" sz="1600" b="0" i="0" dirty="0" err="1">
                <a:effectLst/>
                <a:latin typeface="Segoe UI" panose="020B0502040204020203" pitchFamily="34" charset="0"/>
              </a:rPr>
              <a:t>Leaf</a:t>
            </a:r>
            <a:r>
              <a:rPr lang="es-MX" sz="1600" b="0" i="0" dirty="0">
                <a:effectLst/>
                <a:latin typeface="Segoe UI" panose="020B0502040204020203" pitchFamily="34" charset="0"/>
              </a:rPr>
              <a:t>.</a:t>
            </a:r>
            <a:br>
              <a:rPr lang="es-MX" sz="1600" b="0" i="0" dirty="0">
                <a:effectLst/>
                <a:latin typeface="Segoe UI" panose="020B0502040204020203" pitchFamily="34" charset="0"/>
              </a:rPr>
            </a:br>
            <a:r>
              <a:rPr lang="es-MX" sz="1600" b="0" i="0" dirty="0">
                <a:effectLst/>
                <a:latin typeface="Segoe UI" panose="020B0502040204020203" pitchFamily="34" charset="0"/>
              </a:rPr>
              <a:t>El modelo resultante dio aproximadamente 297 kg de masa total, 0.098 m³ de volumen, 112.6 Ah de capacidad y 39.36 kWh de energía.</a:t>
            </a:r>
            <a:br>
              <a:rPr lang="es-MX" sz="1600" b="0" i="0" dirty="0">
                <a:effectLst/>
                <a:latin typeface="Segoe UI" panose="020B0502040204020203" pitchFamily="34" charset="0"/>
              </a:rPr>
            </a:br>
            <a:r>
              <a:rPr lang="es-MX" sz="1600" b="0" i="0" dirty="0">
                <a:effectLst/>
                <a:latin typeface="Segoe UI" panose="020B0502040204020203" pitchFamily="34" charset="0"/>
              </a:rPr>
              <a:t>Estos valores confirman que el diseño del pack es coherente con el vehículo real.</a:t>
            </a:r>
          </a:p>
        </p:txBody>
      </p:sp>
    </p:spTree>
    <p:extLst>
      <p:ext uri="{BB962C8B-B14F-4D97-AF65-F5344CB8AC3E}">
        <p14:creationId xmlns:p14="http://schemas.microsoft.com/office/powerpoint/2010/main" val="316374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38B32-352D-E2EA-0A57-2499276C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44" y="259018"/>
            <a:ext cx="8596668" cy="1320800"/>
          </a:xfrm>
        </p:spPr>
        <p:txBody>
          <a:bodyPr/>
          <a:lstStyle/>
          <a:p>
            <a:r>
              <a:rPr lang="es-MX" dirty="0"/>
              <a:t>Programación de batería (</a:t>
            </a:r>
            <a:r>
              <a:rPr lang="es-MX" dirty="0" err="1"/>
              <a:t>thermal</a:t>
            </a:r>
            <a:r>
              <a:rPr lang="es-MX" dirty="0"/>
              <a:t>) y coulomb </a:t>
            </a:r>
            <a:r>
              <a:rPr lang="es-MX" dirty="0" err="1"/>
              <a:t>counting</a:t>
            </a:r>
            <a:endParaRPr lang="es-EC" dirty="0"/>
          </a:p>
        </p:txBody>
      </p:sp>
      <p:pic>
        <p:nvPicPr>
          <p:cNvPr id="5" name="Imagen 4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3A28997D-DB51-F32F-0095-76EB8B116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551" y="2083634"/>
            <a:ext cx="5334744" cy="4010585"/>
          </a:xfrm>
          <a:prstGeom prst="rect">
            <a:avLst/>
          </a:prstGeom>
        </p:spPr>
      </p:pic>
      <p:pic>
        <p:nvPicPr>
          <p:cNvPr id="7" name="Imagen 6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1A5A170D-3C05-03CD-22FF-F231C7B59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16" y="1579818"/>
            <a:ext cx="6090214" cy="48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7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8070-82F1-254E-1D13-5274598D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50966-F137-CEF8-170C-B9BFF0DD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motor </a:t>
            </a:r>
            <a:r>
              <a:rPr lang="es-MX" dirty="0" err="1"/>
              <a:t>nissan</a:t>
            </a:r>
            <a:r>
              <a:rPr lang="es-MX" dirty="0"/>
              <a:t> </a:t>
            </a:r>
            <a:r>
              <a:rPr lang="es-MX" dirty="0" err="1"/>
              <a:t>leaf</a:t>
            </a:r>
            <a:r>
              <a:rPr lang="es-MX" dirty="0"/>
              <a:t> (IPMSM)</a:t>
            </a:r>
            <a:endParaRPr lang="es-EC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997541-9D2A-5A51-6973-9CA07EFB8D1A}"/>
              </a:ext>
            </a:extLst>
          </p:cNvPr>
          <p:cNvSpPr txBox="1"/>
          <p:nvPr/>
        </p:nvSpPr>
        <p:spPr>
          <a:xfrm>
            <a:off x="677334" y="1718931"/>
            <a:ext cx="2760632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s-MX" sz="1400" dirty="0">
                <a:latin typeface="Segoe UI" panose="020B0502040204020203" pitchFamily="34" charset="0"/>
              </a:rPr>
              <a:t>Usamos un modelo síncrono de imanes permanentes interior.</a:t>
            </a:r>
            <a:br>
              <a:rPr lang="es-MX" sz="1400" dirty="0">
                <a:latin typeface="Segoe UI" panose="020B0502040204020203" pitchFamily="34" charset="0"/>
              </a:rPr>
            </a:br>
            <a:r>
              <a:rPr lang="es-MX" sz="1400" dirty="0">
                <a:latin typeface="Segoe UI" panose="020B0502040204020203" pitchFamily="34" charset="0"/>
              </a:rPr>
              <a:t>Configuramos parámetros eléctricos y mecánicos típicos de un motor automotriz: pares de polos, resistencias, inductancias, flujo magnético y la inercia del rotor.</a:t>
            </a:r>
            <a:br>
              <a:rPr lang="es-MX" sz="1400" dirty="0">
                <a:latin typeface="Segoe UI" panose="020B0502040204020203" pitchFamily="34" charset="0"/>
              </a:rPr>
            </a:br>
            <a:r>
              <a:rPr lang="es-MX" sz="1400" dirty="0">
                <a:latin typeface="Segoe UI" panose="020B0502040204020203" pitchFamily="34" charset="0"/>
              </a:rPr>
              <a:t>Esto nos permitió simular cómo se genera el torque en función de las corrientes d–q, y cómo responde el motor ante la señal trifásica.</a:t>
            </a: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6251DCB1-BA23-2FF6-3819-A643E8620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7" t="18470" r="21453" b="23429"/>
          <a:stretch>
            <a:fillRect/>
          </a:stretch>
        </p:blipFill>
        <p:spPr>
          <a:xfrm>
            <a:off x="3917652" y="1718931"/>
            <a:ext cx="6980198" cy="294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3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9C45B-15B2-476C-BF36-4BE3ED40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38" y="186089"/>
            <a:ext cx="8197159" cy="564682"/>
          </a:xfrm>
        </p:spPr>
        <p:txBody>
          <a:bodyPr>
            <a:normAutofit fontScale="90000"/>
          </a:bodyPr>
          <a:lstStyle/>
          <a:p>
            <a:r>
              <a:rPr lang="es-EC" dirty="0"/>
              <a:t>SIMULACIÓN DEL VEHÍCULO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845173-5A4F-456D-8A98-ADF4B5392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74" y="875294"/>
            <a:ext cx="5658526" cy="560539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1DE237E-18AD-2B16-E998-2B6189972BC6}"/>
              </a:ext>
            </a:extLst>
          </p:cNvPr>
          <p:cNvSpPr txBox="1"/>
          <p:nvPr/>
        </p:nvSpPr>
        <p:spPr>
          <a:xfrm>
            <a:off x="6363903" y="875294"/>
            <a:ext cx="56585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buNone/>
            </a:pPr>
            <a:r>
              <a:rPr lang="es-MX" sz="1600" b="0" i="0" dirty="0">
                <a:effectLst/>
                <a:latin typeface="Segoe UI" panose="020B0502040204020203" pitchFamily="34" charset="0"/>
              </a:rPr>
              <a:t>Aquí aparecen diversas señales durante la simulación: velocidad, aceleraciones, demanda del conductor y otras. Permiten verificar que los subsistemas (motor, batería</a:t>
            </a:r>
            <a:r>
              <a:rPr lang="es-MX" sz="1600" dirty="0">
                <a:latin typeface="Segoe UI" panose="020B0502040204020203" pitchFamily="34" charset="0"/>
              </a:rPr>
              <a:t>)</a:t>
            </a:r>
            <a:r>
              <a:rPr lang="es-MX" sz="1600" b="0" i="0" dirty="0">
                <a:effectLst/>
                <a:latin typeface="Segoe UI" panose="020B0502040204020203" pitchFamily="34" charset="0"/>
              </a:rPr>
              <a:t> están correctamente integrados y responden de forma coherente cuando el conductor acelera o frena.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B30F28-FDA4-79AB-2924-875A8500EDA1}"/>
              </a:ext>
            </a:extLst>
          </p:cNvPr>
          <p:cNvSpPr txBox="1"/>
          <p:nvPr/>
        </p:nvSpPr>
        <p:spPr>
          <a:xfrm>
            <a:off x="6363903" y="2362042"/>
            <a:ext cx="5658527" cy="395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r>
              <a:rPr lang="es-MX" sz="1600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Las variables mostradas en la Figura 7 fueron seleccionadas porque representan</a:t>
            </a:r>
            <a:r>
              <a:rPr lang="es-MX" sz="1600" dirty="0">
                <a:latin typeface="Segoe UI" panose="020B0502040204020203" pitchFamily="34" charset="0"/>
              </a:rPr>
              <a:t>: </a:t>
            </a:r>
            <a:r>
              <a:rPr lang="es-MX" sz="1600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la dinámica del vehículo, la acción del conductor, el comportamiento del motor y el estado energético de la batería. </a:t>
            </a:r>
          </a:p>
          <a:p>
            <a:pPr algn="just" fontAlgn="t">
              <a:lnSpc>
                <a:spcPts val="1500"/>
              </a:lnSpc>
              <a:buNone/>
            </a:pPr>
            <a:endParaRPr lang="es-MX" sz="1600" dirty="0">
              <a:latin typeface="Segoe UI" panose="020B0502040204020203" pitchFamily="34" charset="0"/>
            </a:endParaRPr>
          </a:p>
          <a:p>
            <a:pPr algn="just" fontAlgn="t">
              <a:lnSpc>
                <a:spcPts val="1500"/>
              </a:lnSpc>
              <a:buNone/>
            </a:pPr>
            <a:r>
              <a:rPr lang="es-MX" sz="1600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Por un lado, la velocidad y permite evaluar cómo responde el vehículo ante aceleraciones, frenados y transiciones, mientras que las señales del conductor (demanda y dirección) permiten correlacionar esa respuesta con lo que realmente está pidiendo el usuario durante la simulación. Estas variables aseguran que el modelo físico del vehículo esté correctamente integrado y que las fuerzas y movimientos coincidan con las entradas de manejo. </a:t>
            </a:r>
          </a:p>
          <a:p>
            <a:pPr algn="just" fontAlgn="t">
              <a:lnSpc>
                <a:spcPts val="1500"/>
              </a:lnSpc>
              <a:buNone/>
            </a:pPr>
            <a:endParaRPr lang="es-MX" sz="1600" dirty="0">
              <a:latin typeface="Segoe UI" panose="020B0502040204020203" pitchFamily="34" charset="0"/>
            </a:endParaRPr>
          </a:p>
          <a:p>
            <a:pPr algn="just" fontAlgn="t">
              <a:lnSpc>
                <a:spcPts val="1500"/>
              </a:lnSpc>
              <a:buNone/>
            </a:pPr>
            <a:r>
              <a:rPr lang="es-MX" sz="1600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Las señales del motor (torque y velocidad) son esenciales para entender la entrega de potencia, la dinámica electromecánica y la coherencia del actuador frente a la demanda del conductor, mientras que las señales de la batería (corriente, SOC y temperatura) permiten evaluar consumo, regeneración y estabilidad térmica del pack. </a:t>
            </a:r>
            <a:endParaRPr lang="es-MX" sz="16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29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A906C-D778-4B02-8A06-61C677B6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382" y="233079"/>
            <a:ext cx="1660419" cy="631964"/>
          </a:xfrm>
        </p:spPr>
        <p:txBody>
          <a:bodyPr/>
          <a:lstStyle/>
          <a:p>
            <a:r>
              <a:rPr lang="es-EC" dirty="0"/>
              <a:t>Señales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33B9C7-A777-4702-820C-79345F1AC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63"/>
          <a:stretch/>
        </p:blipFill>
        <p:spPr>
          <a:xfrm>
            <a:off x="6096000" y="1120937"/>
            <a:ext cx="5743063" cy="46161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2F92D8F-2C59-552D-6B46-CC248E9EE5CE}"/>
              </a:ext>
            </a:extLst>
          </p:cNvPr>
          <p:cNvSpPr txBox="1"/>
          <p:nvPr/>
        </p:nvSpPr>
        <p:spPr>
          <a:xfrm>
            <a:off x="183574" y="865044"/>
            <a:ext cx="5150426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EC" sz="1400" b="0" i="0" dirty="0" err="1">
                <a:effectLst/>
                <a:latin typeface="Segoe UI" panose="020B0502040204020203" pitchFamily="34" charset="0"/>
              </a:rPr>
              <a:t>VehFdbk.BodyFrcFrm.Cg.Vel.xdot</a:t>
            </a:r>
            <a:endParaRPr lang="es-EC" sz="14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CD665AE-8CE3-19BB-39AC-97CA72A3C714}"/>
              </a:ext>
            </a:extLst>
          </p:cNvPr>
          <p:cNvSpPr txBox="1"/>
          <p:nvPr/>
        </p:nvSpPr>
        <p:spPr>
          <a:xfrm>
            <a:off x="183574" y="1291153"/>
            <a:ext cx="6102926" cy="87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MX" sz="1400" b="0" i="0" dirty="0">
                <a:effectLst/>
                <a:latin typeface="Segoe UI" panose="020B0502040204020203" pitchFamily="34" charset="0"/>
              </a:rPr>
              <a:t>Esta señal muestra cómo cambia la velocidad del vehículo conforme el conductor acelera, frena o mantiene una velocidad constante. Las variaciones corresponden a momentos en que hay mayor o menor demanda de potencia.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E61F33-7B7E-DDC1-7AB5-C40BBBD99390}"/>
              </a:ext>
            </a:extLst>
          </p:cNvPr>
          <p:cNvSpPr txBox="1"/>
          <p:nvPr/>
        </p:nvSpPr>
        <p:spPr>
          <a:xfrm>
            <a:off x="183574" y="2336609"/>
            <a:ext cx="6102926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EC" sz="1400" b="0" i="0" dirty="0" err="1">
                <a:effectLst/>
                <a:latin typeface="Segoe UI" panose="020B0502040204020203" pitchFamily="34" charset="0"/>
              </a:rPr>
              <a:t>VehFdbk.Drive.SteerFbK</a:t>
            </a:r>
            <a:endParaRPr lang="es-EC" sz="14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7A28B23-2CCA-37DC-385C-21CE75936274}"/>
              </a:ext>
            </a:extLst>
          </p:cNvPr>
          <p:cNvSpPr txBox="1"/>
          <p:nvPr/>
        </p:nvSpPr>
        <p:spPr>
          <a:xfrm>
            <a:off x="183574" y="2797289"/>
            <a:ext cx="6102926" cy="867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MX" sz="1400" b="0" i="0" dirty="0">
                <a:effectLst/>
                <a:latin typeface="Segoe UI" panose="020B0502040204020203" pitchFamily="34" charset="0"/>
              </a:rPr>
              <a:t>El ángulo de dirección ayuda a entender variaciones en aceleraciones laterales y cambios en dinámica. Aunque no afecta directamente la batería o el motor, sí influye en cómo se distribuye la fuerza y en el comportamiento general del vehículo.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C5E328E-42ED-6AE8-CF36-7528A63FF599}"/>
              </a:ext>
            </a:extLst>
          </p:cNvPr>
          <p:cNvSpPr txBox="1"/>
          <p:nvPr/>
        </p:nvSpPr>
        <p:spPr>
          <a:xfrm>
            <a:off x="183574" y="4331930"/>
            <a:ext cx="6102926" cy="867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MX" sz="1400" b="0" i="0" dirty="0">
                <a:effectLst/>
                <a:latin typeface="Segoe UI" panose="020B0502040204020203" pitchFamily="34" charset="0"/>
              </a:rPr>
              <a:t>Aquí se puede observar qué tan fuerte está demandando energía el vehículo. Corriente positiva significa consumo (aceleración) y corriente negativa significa regeneración (frenado regenerativo). Es una de las señales más importantes para evaluar eficiencia energética.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A50E7B-7F7A-9688-C110-ADF9C1D0B86D}"/>
              </a:ext>
            </a:extLst>
          </p:cNvPr>
          <p:cNvSpPr txBox="1"/>
          <p:nvPr/>
        </p:nvSpPr>
        <p:spPr>
          <a:xfrm>
            <a:off x="183574" y="3862018"/>
            <a:ext cx="6102926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MX" sz="1400" b="0" i="0" dirty="0" err="1">
                <a:effectLst/>
                <a:latin typeface="Segoe UI" panose="020B0502040204020203" pitchFamily="34" charset="0"/>
              </a:rPr>
              <a:t>BattCurr</a:t>
            </a:r>
            <a:endParaRPr lang="es-EC" sz="1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1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5A12-45C5-479D-ADE1-CB2E0690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8014"/>
            <a:ext cx="8596668" cy="1320800"/>
          </a:xfrm>
        </p:spPr>
        <p:txBody>
          <a:bodyPr/>
          <a:lstStyle/>
          <a:p>
            <a:r>
              <a:rPr lang="es-MX" dirty="0"/>
              <a:t>Lectura de torque y velocidad</a:t>
            </a:r>
            <a:endParaRPr lang="es-EC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316EBB4-765D-49CF-9FE0-C15E1A026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132846"/>
            <a:ext cx="5029200" cy="3764262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120C7C-6473-4673-BAB3-927E85682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02" y="1132846"/>
            <a:ext cx="4837595" cy="388077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443BF70-88E8-7AD4-5AE2-716FA8927F59}"/>
              </a:ext>
            </a:extLst>
          </p:cNvPr>
          <p:cNvSpPr txBox="1"/>
          <p:nvPr/>
        </p:nvSpPr>
        <p:spPr>
          <a:xfrm>
            <a:off x="849258" y="5199037"/>
            <a:ext cx="958388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s-MX" b="0" i="0" dirty="0">
                <a:effectLst/>
                <a:latin typeface="Segoe UI" panose="020B0502040204020203" pitchFamily="34" charset="0"/>
              </a:rPr>
              <a:t>Con el Bus Selector escogimos las señales del motor que nos interesaban: torque y velocidad como principales, y también corrientes trifásicas y corrientes d–q.</a:t>
            </a:r>
            <a:br>
              <a:rPr lang="es-MX" b="0" i="0" dirty="0">
                <a:effectLst/>
                <a:latin typeface="Segoe UI" panose="020B0502040204020203" pitchFamily="34" charset="0"/>
              </a:rPr>
            </a:br>
            <a:endParaRPr lang="es-MX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73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50319-2087-3A71-AB7D-988F7FA3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y conclusiones</a:t>
            </a:r>
            <a:endParaRPr lang="es-EC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F8445C-BD5B-AC18-94B2-BEDAAACE0955}"/>
              </a:ext>
            </a:extLst>
          </p:cNvPr>
          <p:cNvSpPr txBox="1"/>
          <p:nvPr/>
        </p:nvSpPr>
        <p:spPr>
          <a:xfrm>
            <a:off x="677334" y="1394690"/>
            <a:ext cx="9103975" cy="125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r>
              <a:rPr lang="es-MX" sz="1600" b="0" i="0" dirty="0">
                <a:effectLst/>
                <a:latin typeface="Segoe UI" panose="020B0502040204020203" pitchFamily="34" charset="0"/>
              </a:rPr>
              <a:t>Los resultados del modelo muestran que el motor síncrono (IPMSM) responde correctamente a las señales trifásicas de excitación. El torque exhibe un pico inicial debido al establecimiento de las corrientes del estator y luego se estabiliza cerca de cero al no existir carga mecánica, mientras que la velocidad del motor aumenta rápidamente hasta un valor estable gracias a la baja inercia configurada. Este comportamiento confirma que los parámetros eléctricos y mecánicos asignados al modelo representan de forma realista el funcionamiento de un motor IPMSM.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C92FE93-C498-1080-9846-E26C39095ADD}"/>
              </a:ext>
            </a:extLst>
          </p:cNvPr>
          <p:cNvSpPr txBox="1"/>
          <p:nvPr/>
        </p:nvSpPr>
        <p:spPr>
          <a:xfrm>
            <a:off x="677333" y="2819963"/>
            <a:ext cx="9103975" cy="125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r>
              <a:rPr lang="es-MX" sz="1600" b="0" i="0" dirty="0">
                <a:effectLst/>
                <a:latin typeface="Segoe UI" panose="020B0502040204020203" pitchFamily="34" charset="0"/>
              </a:rPr>
              <a:t>En cuanto al sistema de batería, las señales de temperatura, voltaje por celda, corriente y estado de carga se mantienen estables durante el régimen estacionario. La temperatura permanece alrededor de 298 K, el voltaje no presenta variaciones, la corriente cae a cero después de un breve transitorio y el SOC se mantiene constante. Esto valida que el modelo </a:t>
            </a:r>
            <a:r>
              <a:rPr lang="es-MX" sz="1600" b="0" i="0" dirty="0" err="1">
                <a:effectLst/>
                <a:latin typeface="Segoe UI" panose="020B0502040204020203" pitchFamily="34" charset="0"/>
              </a:rPr>
              <a:t>Equivalent</a:t>
            </a:r>
            <a:r>
              <a:rPr lang="es-MX" sz="1600" b="0" i="0" dirty="0">
                <a:effectLst/>
                <a:latin typeface="Segoe UI" panose="020B0502040204020203" pitchFamily="34" charset="0"/>
              </a:rPr>
              <a:t> </a:t>
            </a:r>
            <a:r>
              <a:rPr lang="es-MX" sz="1600" b="0" i="0" dirty="0" err="1">
                <a:effectLst/>
                <a:latin typeface="Segoe UI" panose="020B0502040204020203" pitchFamily="34" charset="0"/>
              </a:rPr>
              <a:t>Circuit</a:t>
            </a:r>
            <a:r>
              <a:rPr lang="es-MX" sz="1600" b="0" i="0" dirty="0">
                <a:effectLst/>
                <a:latin typeface="Segoe UI" panose="020B0502040204020203" pitchFamily="34" charset="0"/>
              </a:rPr>
              <a:t> está correctamente inicializado y no presenta demandas energéticas inesperadas, asegurando una base confiable para escenarios dinámicos más exigentes como aceleraciones y frenado regenerativo.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28FE3B-D68F-FB09-114F-200235BE2124}"/>
              </a:ext>
            </a:extLst>
          </p:cNvPr>
          <p:cNvSpPr txBox="1"/>
          <p:nvPr/>
        </p:nvSpPr>
        <p:spPr>
          <a:xfrm>
            <a:off x="677332" y="4245236"/>
            <a:ext cx="9103975" cy="1452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ts val="1500"/>
              </a:lnSpc>
              <a:buNone/>
            </a:pPr>
            <a:r>
              <a:rPr lang="es-MX" sz="1600" b="0" i="0" dirty="0">
                <a:effectLst/>
                <a:latin typeface="Segoe UI" panose="020B0502040204020203" pitchFamily="34" charset="0"/>
              </a:rPr>
              <a:t>En conclusión, el proyecto logró construir un modelo completo y coherente del vehículo eléctrico basado en el Nissan </a:t>
            </a:r>
            <a:r>
              <a:rPr lang="es-MX" sz="1600" b="0" i="0" dirty="0" err="1">
                <a:effectLst/>
                <a:latin typeface="Segoe UI" panose="020B0502040204020203" pitchFamily="34" charset="0"/>
              </a:rPr>
              <a:t>Leaf</a:t>
            </a:r>
            <a:r>
              <a:rPr lang="es-MX" sz="1600" b="0" i="0" dirty="0">
                <a:effectLst/>
                <a:latin typeface="Segoe UI" panose="020B0502040204020203" pitchFamily="34" charset="0"/>
              </a:rPr>
              <a:t> 2022, integrando de manera efectiva los subsistemas eléctricos, mecánicos y de control. El motor y la batería demostraron estabilidad y comportamiento realista, el </a:t>
            </a:r>
            <a:r>
              <a:rPr lang="es-MX" sz="1600" b="0" i="0" dirty="0" err="1">
                <a:effectLst/>
                <a:latin typeface="Segoe UI" panose="020B0502040204020203" pitchFamily="34" charset="0"/>
              </a:rPr>
              <a:t>dashboard</a:t>
            </a:r>
            <a:r>
              <a:rPr lang="es-MX" sz="1600" b="0" i="0" dirty="0">
                <a:effectLst/>
                <a:latin typeface="Segoe UI" panose="020B0502040204020203" pitchFamily="34" charset="0"/>
              </a:rPr>
              <a:t> permitió visualizar con claridad las variables clave, y el sistema quedó preparado para ejecutar escenarios dinámicos avanzados. Además, la estructura modular del modelo facilita mejoras futuras, como degradación de batería o ciclos de conducción más complejos, consolidando este proyecto como una plataforma sólida para estudios posteriores.</a:t>
            </a:r>
          </a:p>
        </p:txBody>
      </p:sp>
    </p:spTree>
    <p:extLst>
      <p:ext uri="{BB962C8B-B14F-4D97-AF65-F5344CB8AC3E}">
        <p14:creationId xmlns:p14="http://schemas.microsoft.com/office/powerpoint/2010/main" val="23656366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96</TotalTime>
  <Words>877</Words>
  <Application>Microsoft Office PowerPoint</Application>
  <PresentationFormat>Panorámica</PresentationFormat>
  <Paragraphs>28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Segoe UI</vt:lpstr>
      <vt:lpstr>Trebuchet MS</vt:lpstr>
      <vt:lpstr>Wingdings 3</vt:lpstr>
      <vt:lpstr>Faceta</vt:lpstr>
      <vt:lpstr>Modelado y Simulación de Vehículo Eléctrico en MATLAB/Simulink</vt:lpstr>
      <vt:lpstr>Vehículo de referencia: Nissan Leaf 2022 </vt:lpstr>
      <vt:lpstr>Pack de Batería del Nissan Leaf – Diseño en Simscape Battery</vt:lpstr>
      <vt:lpstr>Programación de batería (thermal) y coulomb counting</vt:lpstr>
      <vt:lpstr>Diseño de motor nissan leaf (IPMSM)</vt:lpstr>
      <vt:lpstr>SIMULACIÓN DEL VEHÍCULO</vt:lpstr>
      <vt:lpstr>Presentación de PowerPoint</vt:lpstr>
      <vt:lpstr>Lectura de torque y velocidad</vt:lpstr>
      <vt:lpstr>Resultados y 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Modelado y Simulación de Vehículo Eléctrico en MATLAB/Simulink</dc:title>
  <dc:creator>Est. Alan Steven  Diaz Diaz</dc:creator>
  <cp:lastModifiedBy>Est. Jesus Sebastian Palomino Gonzalon</cp:lastModifiedBy>
  <cp:revision>6</cp:revision>
  <dcterms:created xsi:type="dcterms:W3CDTF">2026-02-12T19:37:25Z</dcterms:created>
  <dcterms:modified xsi:type="dcterms:W3CDTF">2026-02-12T21:58:47Z</dcterms:modified>
</cp:coreProperties>
</file>